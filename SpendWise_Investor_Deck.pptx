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7C6B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474720"/>
            <a:ext cx="3840480" cy="3840480"/>
          </a:xfrm>
          <a:prstGeom prst="ellipse">
            <a:avLst/>
          </a:prstGeom>
          <a:solidFill>
            <a:srgbClr val="00D4FF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0"/>
            <a:ext cx="868680" cy="86868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91640" y="786384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SpendWise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money,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D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autopilot.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private, and motivating personal finance for India —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logging, no bank logins.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BRIEF   ·   v5.0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4D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Managing money today is broken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in India, where spending is fragmented across UPI, cards, net-banking, wallets and EMIs.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82296" cy="1691640"/>
          </a:xfrm>
          <a:prstGeom prst="roundRect">
            <a:avLst>
              <a:gd name="adj" fmla="val 44444"/>
            </a:avLst>
          </a:prstGeom>
          <a:solidFill>
            <a:srgbClr val="FF4D6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7004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tracking fails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expects you to log expenses by hand. 80%+ of users quit within weeks — data goes stale.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24688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468880"/>
            <a:ext cx="82296" cy="1691640"/>
          </a:xfrm>
          <a:prstGeom prst="roundRect">
            <a:avLst>
              <a:gd name="adj" fmla="val 44444"/>
            </a:avLst>
          </a:prstGeom>
          <a:solidFill>
            <a:srgbClr val="FFB547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67004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Money is fragmented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31546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UPI, an ICICI card, an SBI account, NEFT, wallets — no single source of truth.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434840"/>
            <a:ext cx="82296" cy="1691640"/>
          </a:xfrm>
          <a:prstGeom prst="roundRect">
            <a:avLst>
              <a:gd name="adj" fmla="val 44444"/>
            </a:avLst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6360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fear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51206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apps demand net-banking logins or bank links. Users rightly refuse.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44348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4434840"/>
            <a:ext cx="82296" cy="1691640"/>
          </a:xfrm>
          <a:prstGeom prst="roundRect">
            <a:avLst>
              <a:gd name="adj" fmla="val 44444"/>
            </a:avLst>
          </a:prstGeom>
          <a:solidFill>
            <a:srgbClr val="9D8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6360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proactive guidance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51206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apps show balances, not behavior. You learn you overspent after the month ends.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SpendWise: effortless and private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bank SMS and email receipts you already get, turns them into a clean ledger automatically, and guides you before you overspend.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511296" cy="3108960"/>
          </a:xfrm>
          <a:prstGeom prst="roundRect">
            <a:avLst>
              <a:gd name="adj" fmla="val 3529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063240"/>
            <a:ext cx="777240" cy="77724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063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capture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846320"/>
            <a:ext cx="27797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SMS &amp; Gmail receipts become categorized transactions in seconds. Zero manual entry.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25696" y="2651760"/>
            <a:ext cx="3511296" cy="3108960"/>
          </a:xfrm>
          <a:prstGeom prst="roundRect">
            <a:avLst>
              <a:gd name="adj" fmla="val 3529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1456" y="3063240"/>
            <a:ext cx="777240" cy="7772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3063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91456" y="406908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91456" y="448056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91456" y="4846320"/>
            <a:ext cx="27797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 logins. On-device parsing. Secrets in AES-256 encrypted storage. No data resale.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11312" y="2651760"/>
            <a:ext cx="3511296" cy="3108960"/>
          </a:xfrm>
          <a:prstGeom prst="roundRect">
            <a:avLst>
              <a:gd name="adj" fmla="val 3529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77072" y="3063240"/>
            <a:ext cx="777240" cy="7772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9" name="Text 17"/>
          <p:cNvSpPr/>
          <p:nvPr/>
        </p:nvSpPr>
        <p:spPr>
          <a:xfrm>
            <a:off x="8577072" y="3063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577072" y="406908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Motivating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77072" y="448056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change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77072" y="4846320"/>
            <a:ext cx="27797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goals, a health score and gamification turn discipline into a daily habit.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 bank alert to insight — automatically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971800"/>
            <a:ext cx="822960" cy="82296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SMS + Gmail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(14+ banks)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35808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74720" y="265176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2971800"/>
            <a:ext cx="822960" cy="8229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7472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5760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merchant &amp;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extracted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70448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09360" y="265176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2971800"/>
            <a:ext cx="822960" cy="8229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Ledger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unified, de-duped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timeline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05088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44000" y="265176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2971800"/>
            <a:ext cx="822960" cy="822960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24" name="Text 22"/>
          <p:cNvSpPr/>
          <p:nvPr/>
        </p:nvSpPr>
        <p:spPr>
          <a:xfrm>
            <a:off x="992124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4400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32688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alerts, goals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health score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 every incoming bank SMS · background Gmail sync every 30 minutes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D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→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pain point, answered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2148840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1A264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logging is tedious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15000" y="2359152"/>
            <a:ext cx="329184" cy="329184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2359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SMS + email import — zero typing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3008376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1A264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08376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scattered everywhere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3218688"/>
            <a:ext cx="329184" cy="329184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3218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00837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ledger across all banks &amp; rails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3867912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1A264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67912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sharing bank logins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15000" y="4078224"/>
            <a:ext cx="329184" cy="329184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867912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App-password + on-device + AES-256 encryption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727448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4727448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1A264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727448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Overspending found too late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15000" y="4937760"/>
            <a:ext cx="329184" cy="329184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4937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4727448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alerts &amp; 80% / 100% push warnings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586984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5586984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1A264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86984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&amp; dues slip through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15000" y="5797296"/>
            <a:ext cx="329184" cy="329184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5797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5586984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bill reminders from email/SMS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app for the whole money picture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423160"/>
            <a:ext cx="457200" cy="45720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441448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Auto-capture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017520"/>
            <a:ext cx="2962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banks · UPI, cards, NEFT/IMPS/RTGS · smart categorization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25696" y="214884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8304" y="2423160"/>
            <a:ext cx="457200" cy="457200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0096" y="2441448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Budgets &amp; alerts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18304" y="3017520"/>
            <a:ext cx="2962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limits, color states, push at 80% / 100%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11312" y="214884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42316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25712" y="2441448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planner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3017520"/>
            <a:ext cx="2962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ETA, required monthly saving, milestone nudges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87952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462272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448056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score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5056632"/>
            <a:ext cx="2962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financial-fitness gauge with pillar breakdown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25696" y="4187952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8304" y="4462272"/>
            <a:ext cx="457200" cy="457200"/>
          </a:xfrm>
          <a:prstGeom prst="ellipse">
            <a:avLst/>
          </a:prstGeom>
          <a:solidFill>
            <a:srgbClr val="FF4D6A"/>
          </a:solidFill>
          <a:ln/>
        </p:spPr>
      </p:sp>
      <p:sp>
        <p:nvSpPr>
          <p:cNvPr id="26" name="Text 24"/>
          <p:cNvSpPr/>
          <p:nvPr/>
        </p:nvSpPr>
        <p:spPr>
          <a:xfrm>
            <a:off x="4718304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0096" y="448056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Bills &amp; dues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18304" y="5056632"/>
            <a:ext cx="2962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reminders &amp; credit-card due tracking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11312" y="4187952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4462272"/>
            <a:ext cx="457200" cy="457200"/>
          </a:xfrm>
          <a:prstGeom prst="ellipse">
            <a:avLst/>
          </a:prstGeom>
          <a:solidFill>
            <a:srgbClr val="9D8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25712" y="448056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Gamification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03920" y="5056632"/>
            <a:ext cx="2962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levels, streaks &amp; round-up savings that retain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Effortless AND private — the trade-off others make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0" y="2011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SpendWise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apps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0" y="2011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66360" y="2514600"/>
            <a:ext cx="2194560" cy="3493008"/>
          </a:xfrm>
          <a:prstGeom prst="roundRect">
            <a:avLst>
              <a:gd name="adj" fmla="val 3333"/>
            </a:avLst>
          </a:prstGeom>
          <a:solidFill>
            <a:srgbClr val="7C6BFF">
              <a:alpha val="14000"/>
            </a:srgbClr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effort to maintain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12080" y="251460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251460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0" y="251460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08152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 credentials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12080" y="308152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308152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18320" y="308152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64845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&amp; encrypted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12080" y="364845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364845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0" y="364845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21538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predictive alerts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12080" y="421538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421538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8320" y="421538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4782312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/ gamification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212080" y="478231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478231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18320" y="478231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" y="534924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 (UPI, EMI, ₹ format)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12080" y="5349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0" y="5349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18320" y="5349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&amp;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Built, tested, and feature-complete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889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supported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47288" y="2377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27889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30168" y="38404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test cases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54496" y="2377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27889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37376" y="38404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61704" y="2377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704" y="27889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244584" y="38404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defects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5A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(Kotlin · Compose · MVVM) · 7 background workers · shared design system · a full senior-architect audit closed 25 bugs.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we're headed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11296" cy="3291840"/>
          </a:xfrm>
          <a:prstGeom prst="roundRect">
            <a:avLst>
              <a:gd name="adj" fmla="val 3333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060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7C6BFF">
              <a:alpha val="22000"/>
            </a:srgbClr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06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 term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337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33756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monthly budgets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84048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charts &amp; insights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434340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categorization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846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84632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25696" y="2286000"/>
            <a:ext cx="3511296" cy="3291840"/>
          </a:xfrm>
          <a:prstGeom prst="roundRect">
            <a:avLst>
              <a:gd name="adj" fmla="val 3333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5736" y="26060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2606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 term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3337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65776" y="333756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family budgets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38404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65776" y="384048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SIP tracking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43434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65776" y="434340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Credit-score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4846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65776" y="484632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11312" y="2286000"/>
            <a:ext cx="3511296" cy="3291840"/>
          </a:xfrm>
          <a:prstGeom prst="roundRect">
            <a:avLst>
              <a:gd name="adj" fmla="val 3333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31352" y="26060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00E5A0">
              <a:alpha val="22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1352" y="2606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term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77072" y="3337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51392" y="333756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savings automation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77072" y="38404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51392" y="384048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Money-saving offer marketplace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77072" y="43434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51392" y="434340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advisor layer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5486400" cy="5486400"/>
          </a:xfrm>
          <a:prstGeom prst="ellipse">
            <a:avLst/>
          </a:prstGeom>
          <a:solidFill>
            <a:srgbClr val="7C6B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00D4FF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300M+ digitally-active earners.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effortless, private companion.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UPI generation is drowning in fragmented, manual money management. SpendWise is the rare app that is effortless and private — the two qualities users refuse to trade off — already working across the country's major banks.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41D2E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02920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  </a:t>
            </a:r>
            <a:pPr indent="0" marL="0">
              <a:buNone/>
            </a:pPr>
            <a:r>
              <a:rPr lang="en-US" sz="17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live demo and detailed metrics.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2026-05-29T15:58:05Z</dcterms:created>
  <dcterms:modified xsi:type="dcterms:W3CDTF">2026-05-29T15:58:05Z</dcterms:modified>
</cp:coreProperties>
</file>